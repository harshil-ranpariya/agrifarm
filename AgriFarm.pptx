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4"/>
  </p:sldMasterIdLst>
  <p:sldIdLst>
    <p:sldId id="257" r:id="rId5"/>
    <p:sldId id="296" r:id="rId6"/>
    <p:sldId id="297" r:id="rId7"/>
    <p:sldId id="308" r:id="rId8"/>
    <p:sldId id="309" r:id="rId9"/>
    <p:sldId id="299" r:id="rId10"/>
    <p:sldId id="300" r:id="rId11"/>
    <p:sldId id="301" r:id="rId12"/>
    <p:sldId id="302" r:id="rId13"/>
    <p:sldId id="303" r:id="rId14"/>
    <p:sldId id="304" r:id="rId15"/>
    <p:sldId id="305" r:id="rId16"/>
    <p:sldId id="306" r:id="rId17"/>
    <p:sldId id="307" r:id="rId18"/>
    <p:sldId id="310" r:id="rId19"/>
    <p:sldId id="311" r:id="rId20"/>
    <p:sldId id="31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6" d="100"/>
          <a:sy n="76" d="100"/>
        </p:scale>
        <p:origin x="714"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IN"/>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IN"/>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IN"/>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IN"/>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IN"/>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IN"/>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84DA70-C731-4C70-880D-CCD4705E623C}" type="datetime1">
              <a:rPr lang="en-US" smtClean="0"/>
              <a:t>1/28/2026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74041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78174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7514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59729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1/28/2026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6659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1/28/2026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19339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1/28/2026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4644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77772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1/28/2026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83471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593240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165100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64646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7533613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204108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7199520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2A279-0833-481D-8C56-F67FD0AC6C50}" type="datetime1">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60044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7DA83-5663-4C9C-B9AA-0B40A3DAFF81}" type="datetime1">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08810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D6E202-B606-4609-B914-27C9371A1F6D}" type="datetime1">
              <a:rPr lang="en-US" smtClean="0"/>
              <a:t>1/28/2026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45940404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url-shortener.me/E5P"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2722130" y="2030415"/>
            <a:ext cx="6428811" cy="1021496"/>
          </a:xfrm>
        </p:spPr>
        <p:txBody>
          <a:bodyPr>
            <a:normAutofit/>
          </a:bodyPr>
          <a:lstStyle/>
          <a:p>
            <a:pPr algn="ctr"/>
            <a:r>
              <a:rPr lang="en-US" b="1" dirty="0">
                <a:latin typeface="Times New Roman" panose="02020603050405020304" pitchFamily="18" charset="0"/>
                <a:cs typeface="Times New Roman" panose="02020603050405020304" pitchFamily="18" charset="0"/>
              </a:rPr>
              <a:t>AgriFarm</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763498" y="3496473"/>
            <a:ext cx="6269347" cy="2041547"/>
          </a:xfrm>
        </p:spPr>
        <p:txBody>
          <a:bodyPr>
            <a:normAutofit/>
          </a:bodyPr>
          <a:lstStyle/>
          <a:p>
            <a:pPr algn="l"/>
            <a:r>
              <a:rPr lang="en-US" sz="2000" b="1" dirty="0">
                <a:solidFill>
                  <a:schemeClr val="tx1">
                    <a:lumMod val="85000"/>
                    <a:lumOff val="15000"/>
                  </a:schemeClr>
                </a:solidFill>
                <a:latin typeface="Times New Roman" panose="02020603050405020304" pitchFamily="18" charset="0"/>
                <a:cs typeface="Times New Roman" panose="02020603050405020304" pitchFamily="18" charset="0"/>
              </a:rPr>
              <a:t>Prepared by:</a:t>
            </a:r>
          </a:p>
          <a:p>
            <a:pPr algn="l">
              <a:spcBef>
                <a:spcPts val="0"/>
              </a:spcBef>
              <a:spcAft>
                <a:spcPts val="0"/>
              </a:spcAft>
            </a:pP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Nirbhay Bhanderi : 92300938070</a:t>
            </a:r>
          </a:p>
          <a:p>
            <a:pPr algn="l">
              <a:spcBef>
                <a:spcPts val="0"/>
              </a:spcBef>
              <a:spcAft>
                <a:spcPts val="0"/>
              </a:spcAft>
            </a:pP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Paresh </a:t>
            </a:r>
            <a:r>
              <a:rPr lang="en-US" sz="2000" dirty="0" err="1">
                <a:solidFill>
                  <a:schemeClr val="tx1">
                    <a:lumMod val="85000"/>
                    <a:lumOff val="15000"/>
                  </a:schemeClr>
                </a:solidFill>
                <a:latin typeface="Times New Roman" panose="02020603050405020304" pitchFamily="18" charset="0"/>
                <a:cs typeface="Times New Roman" panose="02020603050405020304" pitchFamily="18" charset="0"/>
              </a:rPr>
              <a:t>Katariya</a:t>
            </a: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 : 92300938091</a:t>
            </a:r>
          </a:p>
          <a:p>
            <a:pPr algn="l">
              <a:spcBef>
                <a:spcPts val="0"/>
              </a:spcBef>
              <a:spcAft>
                <a:spcPts val="0"/>
              </a:spcAft>
            </a:pP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Vivek </a:t>
            </a:r>
            <a:r>
              <a:rPr lang="en-US" sz="2000" dirty="0" err="1">
                <a:solidFill>
                  <a:schemeClr val="tx1">
                    <a:lumMod val="85000"/>
                    <a:lumOff val="15000"/>
                  </a:schemeClr>
                </a:solidFill>
                <a:latin typeface="Times New Roman" panose="02020603050405020304" pitchFamily="18" charset="0"/>
                <a:cs typeface="Times New Roman" panose="02020603050405020304" pitchFamily="18" charset="0"/>
              </a:rPr>
              <a:t>Kantariay</a:t>
            </a: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 : 92300938096</a:t>
            </a:r>
          </a:p>
          <a:p>
            <a:pPr algn="l">
              <a:spcBef>
                <a:spcPts val="0"/>
              </a:spcBef>
              <a:spcAft>
                <a:spcPts val="0"/>
              </a:spcAft>
            </a:pP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Harshil </a:t>
            </a:r>
            <a:r>
              <a:rPr lang="en-US" sz="2000" dirty="0" err="1">
                <a:solidFill>
                  <a:schemeClr val="tx1">
                    <a:lumMod val="85000"/>
                    <a:lumOff val="15000"/>
                  </a:schemeClr>
                </a:solidFill>
                <a:latin typeface="Times New Roman" panose="02020603050405020304" pitchFamily="18" charset="0"/>
                <a:cs typeface="Times New Roman" panose="02020603050405020304" pitchFamily="18" charset="0"/>
              </a:rPr>
              <a:t>Ranpariya</a:t>
            </a: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 : 92300938103</a:t>
            </a:r>
          </a:p>
          <a:p>
            <a:pPr algn="l">
              <a:spcBef>
                <a:spcPts val="0"/>
              </a:spcBef>
              <a:spcAft>
                <a:spcPts val="0"/>
              </a:spcAft>
            </a:pP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Hitraj Solanki : 92300938106</a:t>
            </a:r>
            <a:r>
              <a:rPr lang="en-US" sz="2000" dirty="0">
                <a:solidFill>
                  <a:schemeClr val="tx1">
                    <a:lumMod val="85000"/>
                    <a:lumOff val="15000"/>
                  </a:schemeClr>
                </a:solidFill>
                <a:latin typeface="Arial" panose="020B0604020202020204" pitchFamily="34" charset="0"/>
                <a:cs typeface="Arial" panose="020B0604020202020204" pitchFamily="34" charset="0"/>
              </a:rPr>
              <a:t>	</a:t>
            </a:r>
          </a:p>
        </p:txBody>
      </p:sp>
      <p:pic>
        <p:nvPicPr>
          <p:cNvPr id="9" name="Picture 8">
            <a:extLst>
              <a:ext uri="{FF2B5EF4-FFF2-40B4-BE49-F238E27FC236}">
                <a16:creationId xmlns:a16="http://schemas.microsoft.com/office/drawing/2014/main" id="{112210B8-E388-E00E-99BB-73CA2FA9C21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8821" y="192803"/>
            <a:ext cx="3740398" cy="1285122"/>
          </a:xfrm>
          <a:prstGeom prst="rect">
            <a:avLst/>
          </a:prstGeom>
          <a:noFill/>
          <a:ln>
            <a:noFill/>
          </a:ln>
        </p:spPr>
      </p:pic>
      <p:sp>
        <p:nvSpPr>
          <p:cNvPr id="11" name="TextBox 10">
            <a:extLst>
              <a:ext uri="{FF2B5EF4-FFF2-40B4-BE49-F238E27FC236}">
                <a16:creationId xmlns:a16="http://schemas.microsoft.com/office/drawing/2014/main" id="{778097D5-0EE3-0B79-8A75-E31F5A9D6DD1}"/>
              </a:ext>
            </a:extLst>
          </p:cNvPr>
          <p:cNvSpPr txBox="1"/>
          <p:nvPr/>
        </p:nvSpPr>
        <p:spPr>
          <a:xfrm>
            <a:off x="6499552" y="129044"/>
            <a:ext cx="5613627" cy="1456809"/>
          </a:xfrm>
          <a:prstGeom prst="rect">
            <a:avLst/>
          </a:prstGeom>
          <a:noFill/>
        </p:spPr>
        <p:txBody>
          <a:bodyPr wrap="square">
            <a:spAutoFit/>
          </a:bodyPr>
          <a:lstStyle/>
          <a:p>
            <a:pPr algn="r" rtl="0">
              <a:spcBef>
                <a:spcPts val="1000"/>
              </a:spcBef>
              <a:buNone/>
            </a:pPr>
            <a:br>
              <a:rPr lang="en-US" b="0" dirty="0">
                <a:effectLst/>
                <a:latin typeface="Arial" panose="020B0604020202020204" pitchFamily="34" charset="0"/>
                <a:cs typeface="Arial" panose="020B0604020202020204" pitchFamily="34" charset="0"/>
              </a:rPr>
            </a:br>
            <a:r>
              <a:rPr lang="en-US" sz="1800" b="1" i="0" u="none" strike="noStrike" dirty="0">
                <a:solidFill>
                  <a:srgbClr val="000000"/>
                </a:solidFill>
                <a:effectLst/>
                <a:latin typeface="Arial" panose="020B0604020202020204" pitchFamily="34" charset="0"/>
                <a:cs typeface="Arial" panose="020B0604020202020204" pitchFamily="34" charset="0"/>
              </a:rPr>
              <a:t>MARWADI UNIVERSITY </a:t>
            </a:r>
            <a:endParaRPr lang="en-US" b="0" dirty="0">
              <a:effectLst/>
              <a:latin typeface="Arial" panose="020B0604020202020204" pitchFamily="34" charset="0"/>
              <a:cs typeface="Arial" panose="020B0604020202020204" pitchFamily="34" charset="0"/>
            </a:endParaRPr>
          </a:p>
          <a:p>
            <a:pPr algn="r" rtl="0">
              <a:spcBef>
                <a:spcPts val="1000"/>
              </a:spcBef>
              <a:buNone/>
            </a:pPr>
            <a:r>
              <a:rPr lang="en-US" sz="1800" b="1" i="0" u="none" strike="noStrike" dirty="0">
                <a:solidFill>
                  <a:srgbClr val="000000"/>
                </a:solidFill>
                <a:effectLst/>
                <a:latin typeface="Arial" panose="020B0604020202020204" pitchFamily="34" charset="0"/>
                <a:cs typeface="Arial" panose="020B0604020202020204" pitchFamily="34" charset="0"/>
              </a:rPr>
              <a:t>FACULTY OF DIPLOMA STUDIES</a:t>
            </a:r>
            <a:endParaRPr lang="en-US" b="0" dirty="0">
              <a:effectLst/>
              <a:latin typeface="Arial" panose="020B0604020202020204" pitchFamily="34" charset="0"/>
              <a:cs typeface="Arial" panose="020B0604020202020204" pitchFamily="34" charset="0"/>
            </a:endParaRPr>
          </a:p>
          <a:p>
            <a:pPr algn="r" rtl="0">
              <a:spcBef>
                <a:spcPts val="1000"/>
              </a:spcBef>
              <a:buNone/>
            </a:pPr>
            <a:r>
              <a:rPr lang="en-US" sz="1800" b="1" i="0" u="none" strike="noStrike" dirty="0">
                <a:solidFill>
                  <a:srgbClr val="000000"/>
                </a:solidFill>
                <a:effectLst/>
                <a:latin typeface="Arial" panose="020B0604020202020204" pitchFamily="34" charset="0"/>
                <a:cs typeface="Arial" panose="020B0604020202020204" pitchFamily="34" charset="0"/>
              </a:rPr>
              <a:t>COMPUTER ENGINEERING DEPARTMENT</a:t>
            </a:r>
            <a:endParaRPr lang="en-US" b="0" dirty="0">
              <a:effectLst/>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B6BB85F-6B0F-37E4-8B35-D3B55ECDE84A}"/>
              </a:ext>
            </a:extLst>
          </p:cNvPr>
          <p:cNvSpPr txBox="1"/>
          <p:nvPr/>
        </p:nvSpPr>
        <p:spPr>
          <a:xfrm>
            <a:off x="0" y="4903892"/>
            <a:ext cx="3740398" cy="774571"/>
          </a:xfrm>
          <a:prstGeom prst="rect">
            <a:avLst/>
          </a:prstGeom>
          <a:noFill/>
        </p:spPr>
        <p:txBody>
          <a:bodyPr wrap="square">
            <a:spAutoFit/>
          </a:bodyPr>
          <a:lstStyle/>
          <a:p>
            <a:pPr rtl="0">
              <a:spcBef>
                <a:spcPts val="1000"/>
              </a:spcBef>
              <a:buNone/>
            </a:pPr>
            <a:r>
              <a:rPr lang="en-US" b="1" dirty="0">
                <a:solidFill>
                  <a:srgbClr val="000000"/>
                </a:solidFill>
                <a:latin typeface="Times New Roman" panose="02020603050405020304" pitchFamily="18" charset="0"/>
                <a:cs typeface="Times New Roman" panose="02020603050405020304" pitchFamily="18" charset="0"/>
              </a:rPr>
              <a:t>SEMESTER : </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 6      </a:t>
            </a:r>
            <a:endParaRPr lang="en-US" b="0" dirty="0">
              <a:effectLst/>
              <a:latin typeface="Times New Roman" panose="02020603050405020304" pitchFamily="18" charset="0"/>
              <a:cs typeface="Times New Roman" panose="02020603050405020304" pitchFamily="18" charset="0"/>
            </a:endParaRPr>
          </a:p>
          <a:p>
            <a:pPr rtl="0">
              <a:spcBef>
                <a:spcPts val="1000"/>
              </a:spcBef>
              <a:buNone/>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Project Review - 4</a:t>
            </a:r>
            <a:endParaRPr lang="en-US" b="0" dirty="0">
              <a:effectLst/>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E8700FD-109C-DE26-C363-A75C144BD4F6}"/>
              </a:ext>
            </a:extLst>
          </p:cNvPr>
          <p:cNvSpPr txBox="1"/>
          <p:nvPr/>
        </p:nvSpPr>
        <p:spPr>
          <a:xfrm>
            <a:off x="5763497" y="5529431"/>
            <a:ext cx="3848335" cy="850104"/>
          </a:xfrm>
          <a:prstGeom prst="rect">
            <a:avLst/>
          </a:prstGeom>
          <a:noFill/>
        </p:spPr>
        <p:txBody>
          <a:bodyPr wrap="square">
            <a:spAutoFit/>
          </a:bodyPr>
          <a:lstStyle/>
          <a:p>
            <a:pPr rtl="0">
              <a:spcBef>
                <a:spcPts val="1000"/>
              </a:spcBef>
              <a:buNone/>
            </a:pPr>
            <a:r>
              <a:rPr lang="en-US" sz="2000" b="1" i="0" u="none" strike="noStrike" dirty="0">
                <a:solidFill>
                  <a:srgbClr val="000000"/>
                </a:solidFill>
                <a:effectLst/>
                <a:latin typeface="Times New Roman" panose="02020603050405020304" pitchFamily="18" charset="0"/>
                <a:cs typeface="Times New Roman" panose="02020603050405020304" pitchFamily="18" charset="0"/>
              </a:rPr>
              <a:t>Guided by:</a:t>
            </a:r>
            <a:endParaRPr lang="en-US" sz="2000" b="0" dirty="0">
              <a:effectLst/>
              <a:latin typeface="Times New Roman" panose="02020603050405020304" pitchFamily="18" charset="0"/>
              <a:cs typeface="Times New Roman" panose="02020603050405020304" pitchFamily="18" charset="0"/>
            </a:endParaRPr>
          </a:p>
          <a:p>
            <a:pPr rtl="0">
              <a:spcBef>
                <a:spcPts val="1000"/>
              </a:spcBef>
              <a:buNone/>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Prof. </a:t>
            </a:r>
            <a:r>
              <a:rPr lang="en-US" sz="2000" b="0" i="0" u="none" strike="noStrike" dirty="0" err="1">
                <a:solidFill>
                  <a:srgbClr val="000000"/>
                </a:solidFill>
                <a:effectLst/>
                <a:latin typeface="Times New Roman" panose="02020603050405020304" pitchFamily="18" charset="0"/>
                <a:cs typeface="Times New Roman" panose="02020603050405020304" pitchFamily="18" charset="0"/>
              </a:rPr>
              <a:t>Foram</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2000" b="0" i="0" u="none" strike="noStrike" dirty="0" err="1">
                <a:solidFill>
                  <a:srgbClr val="000000"/>
                </a:solidFill>
                <a:effectLst/>
                <a:latin typeface="Times New Roman" panose="02020603050405020304" pitchFamily="18" charset="0"/>
                <a:cs typeface="Times New Roman" panose="02020603050405020304" pitchFamily="18" charset="0"/>
              </a:rPr>
              <a:t>Chovatiya</a:t>
            </a:r>
            <a:endParaRPr lang="en-US" sz="20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E51B33-DE8C-234C-3F8E-14B0FA491AA0}"/>
              </a:ext>
            </a:extLst>
          </p:cNvPr>
          <p:cNvSpPr>
            <a:spLocks noGrp="1"/>
          </p:cNvSpPr>
          <p:nvPr>
            <p:ph idx="1"/>
          </p:nvPr>
        </p:nvSpPr>
        <p:spPr>
          <a:xfrm>
            <a:off x="1484310" y="707887"/>
            <a:ext cx="10018713" cy="5083314"/>
          </a:xfrm>
        </p:spPr>
        <p:txBody>
          <a:bodyPr>
            <a:normAutofit fontScale="77500" lnSpcReduction="20000"/>
          </a:bodyPr>
          <a:lstStyle/>
          <a:p>
            <a:endParaRPr lang="en-US" sz="1400" dirty="0">
              <a:latin typeface="Arial" panose="020B0604020202020204" pitchFamily="34" charset="0"/>
              <a:cs typeface="Arial" panose="020B0604020202020204" pitchFamily="34" charset="0"/>
            </a:endParaRPr>
          </a:p>
          <a:p>
            <a:r>
              <a:rPr lang="en-US" dirty="0" err="1">
                <a:latin typeface="Times New Roman" panose="02020603050405020304" pitchFamily="18" charset="0"/>
                <a:cs typeface="Times New Roman" panose="02020603050405020304" pitchFamily="18" charset="0"/>
              </a:rPr>
              <a:t>AgriFarm</a:t>
            </a:r>
            <a:r>
              <a:rPr lang="en-US" dirty="0">
                <a:latin typeface="Times New Roman" panose="02020603050405020304" pitchFamily="18" charset="0"/>
                <a:cs typeface="Times New Roman" panose="02020603050405020304" pitchFamily="18" charset="0"/>
              </a:rPr>
              <a:t> is a web-based platform that connects farmers and buyers directly, eliminating middlemen and ensuring fairness in agricultural trade.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Farmers can list their products online with details like price, quantity, and images, while buyers can browse, compare, and bid on products in real time.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system includes a Crop Advisory Module offering recommendations on fertilizers, pest control, irrigation, and farming practices.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Live Weather Dashboard provides accurate location-based weather updates crucial for sowing, harvesting, and planning.</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Built using HTML5, CSS3, JavaScript, PHP, and MySQL, the platform ensures secure login, product management, and administrative oversight.</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Real-time bidding, transparent pricing, and advisory tools make </a:t>
            </a:r>
            <a:r>
              <a:rPr lang="en-US" dirty="0" err="1">
                <a:latin typeface="Times New Roman" panose="02020603050405020304" pitchFamily="18" charset="0"/>
                <a:cs typeface="Times New Roman" panose="02020603050405020304" pitchFamily="18" charset="0"/>
              </a:rPr>
              <a:t>AgriFarm</a:t>
            </a:r>
            <a:r>
              <a:rPr lang="en-US" dirty="0">
                <a:latin typeface="Times New Roman" panose="02020603050405020304" pitchFamily="18" charset="0"/>
                <a:cs typeface="Times New Roman" panose="02020603050405020304" pitchFamily="18" charset="0"/>
              </a:rPr>
              <a:t> a complete, technology-driven agricultural solution.</a:t>
            </a:r>
            <a:endParaRPr lang="en-US" sz="1400" dirty="0"/>
          </a:p>
        </p:txBody>
      </p:sp>
      <p:sp>
        <p:nvSpPr>
          <p:cNvPr id="4" name="TextBox 3">
            <a:extLst>
              <a:ext uri="{FF2B5EF4-FFF2-40B4-BE49-F238E27FC236}">
                <a16:creationId xmlns:a16="http://schemas.microsoft.com/office/drawing/2014/main" id="{2C1423F1-94DD-3E94-3242-CDC6451F4ED5}"/>
              </a:ext>
            </a:extLst>
          </p:cNvPr>
          <p:cNvSpPr txBox="1"/>
          <p:nvPr/>
        </p:nvSpPr>
        <p:spPr>
          <a:xfrm>
            <a:off x="1484310" y="0"/>
            <a:ext cx="6243547"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2662927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AD60C-920E-7499-D749-553B2D77CF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1212E-2DD1-210E-7B91-6988D3112407}"/>
              </a:ext>
            </a:extLst>
          </p:cNvPr>
          <p:cNvSpPr>
            <a:spLocks noGrp="1"/>
          </p:cNvSpPr>
          <p:nvPr>
            <p:ph idx="1"/>
          </p:nvPr>
        </p:nvSpPr>
        <p:spPr>
          <a:xfrm>
            <a:off x="1516394" y="707886"/>
            <a:ext cx="10018713" cy="5083314"/>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Aim:</a:t>
            </a:r>
            <a:endParaRPr lang="en-US" sz="1800" b="1" dirty="0">
              <a:latin typeface="Times New Roman" panose="02020603050405020304" pitchFamily="18" charset="0"/>
              <a:cs typeface="Times New Roman" panose="02020603050405020304" pitchFamily="18" charset="0"/>
            </a:endParaRPr>
          </a:p>
          <a:p>
            <a:pPr marL="0" indent="0">
              <a:buNone/>
            </a:pPr>
            <a:r>
              <a:rPr lang="en-US" sz="1900" dirty="0">
                <a:latin typeface="Times New Roman" panose="02020603050405020304" pitchFamily="18" charset="0"/>
                <a:cs typeface="Times New Roman" panose="02020603050405020304" pitchFamily="18" charset="0"/>
              </a:rPr>
              <a:t>To develop a secure, scalable, and feature-rich digital marketplace that empowers farmers and supports buyers through transparent agricultural trading.</a:t>
            </a:r>
          </a:p>
          <a:p>
            <a:pPr marL="0" indent="0">
              <a:buNone/>
            </a:pPr>
            <a:r>
              <a:rPr lang="en-US" sz="2000" b="1" dirty="0">
                <a:latin typeface="Times New Roman" panose="02020603050405020304" pitchFamily="18" charset="0"/>
                <a:cs typeface="Times New Roman" panose="02020603050405020304" pitchFamily="18" charset="0"/>
              </a:rPr>
              <a:t>Objectives:</a:t>
            </a:r>
          </a:p>
          <a:p>
            <a:r>
              <a:rPr lang="en-US" sz="1900" dirty="0">
                <a:latin typeface="Times New Roman" panose="02020603050405020304" pitchFamily="18" charset="0"/>
                <a:cs typeface="Times New Roman" panose="02020603050405020304" pitchFamily="18" charset="0"/>
              </a:rPr>
              <a:t>Enable direct online buying and selling of agricultural products.</a:t>
            </a:r>
          </a:p>
          <a:p>
            <a:r>
              <a:rPr lang="en-US" sz="1900" dirty="0">
                <a:latin typeface="Times New Roman" panose="02020603050405020304" pitchFamily="18" charset="0"/>
                <a:cs typeface="Times New Roman" panose="02020603050405020304" pitchFamily="18" charset="0"/>
              </a:rPr>
              <a:t>Provide a real-time bidding system for competitive and transparent pricing.</a:t>
            </a:r>
          </a:p>
          <a:p>
            <a:r>
              <a:rPr lang="en-US" sz="1900" dirty="0">
                <a:latin typeface="Times New Roman" panose="02020603050405020304" pitchFamily="18" charset="0"/>
                <a:cs typeface="Times New Roman" panose="02020603050405020304" pitchFamily="18" charset="0"/>
              </a:rPr>
              <a:t>Offer advisory modules based on weather, soil, and crop data.</a:t>
            </a:r>
          </a:p>
          <a:p>
            <a:r>
              <a:rPr lang="en-US" sz="1900" dirty="0">
                <a:latin typeface="Times New Roman" panose="02020603050405020304" pitchFamily="18" charset="0"/>
                <a:cs typeface="Times New Roman" panose="02020603050405020304" pitchFamily="18" charset="0"/>
              </a:rPr>
              <a:t>Integrate a live weather dashboard for better decision-making.</a:t>
            </a:r>
          </a:p>
          <a:p>
            <a:r>
              <a:rPr lang="en-US" sz="1900" dirty="0">
                <a:latin typeface="Times New Roman" panose="02020603050405020304" pitchFamily="18" charset="0"/>
                <a:cs typeface="Times New Roman" panose="02020603050405020304" pitchFamily="18" charset="0"/>
              </a:rPr>
              <a:t>Ensure secure authentication and role-based user access (Farmer/Buyer/Admin).</a:t>
            </a:r>
          </a:p>
          <a:p>
            <a:r>
              <a:rPr lang="en-US" sz="1900" dirty="0">
                <a:latin typeface="Times New Roman" panose="02020603050405020304" pitchFamily="18" charset="0"/>
                <a:cs typeface="Times New Roman" panose="02020603050405020304" pitchFamily="18" charset="0"/>
              </a:rPr>
              <a:t>Build a responsive, simple, and accessible interface suitable for rural users.</a:t>
            </a:r>
          </a:p>
          <a:p>
            <a:r>
              <a:rPr lang="en-US" sz="1900" dirty="0">
                <a:latin typeface="Times New Roman" panose="02020603050405020304" pitchFamily="18" charset="0"/>
                <a:cs typeface="Times New Roman" panose="02020603050405020304" pitchFamily="18" charset="0"/>
              </a:rPr>
              <a:t>Maintain admin control for user verification, listing moderation, and system monitoring.</a:t>
            </a:r>
          </a:p>
          <a:p>
            <a:pPr marL="0" indent="0">
              <a:buNone/>
            </a:pPr>
            <a:endParaRPr lang="en-US" sz="14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80C2819-EA53-10BC-8676-6EFE0AFD9BE2}"/>
              </a:ext>
            </a:extLst>
          </p:cNvPr>
          <p:cNvSpPr txBox="1"/>
          <p:nvPr/>
        </p:nvSpPr>
        <p:spPr>
          <a:xfrm>
            <a:off x="1700821" y="0"/>
            <a:ext cx="6179480"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Aim / Objectives</a:t>
            </a:r>
          </a:p>
        </p:txBody>
      </p:sp>
    </p:spTree>
    <p:extLst>
      <p:ext uri="{BB962C8B-B14F-4D97-AF65-F5344CB8AC3E}">
        <p14:creationId xmlns:p14="http://schemas.microsoft.com/office/powerpoint/2010/main" val="1381837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E01C0-4336-6855-E5A1-9FBCA50EC781}"/>
              </a:ext>
            </a:extLst>
          </p:cNvPr>
          <p:cNvSpPr>
            <a:spLocks noGrp="1"/>
          </p:cNvSpPr>
          <p:nvPr>
            <p:ph type="title"/>
          </p:nvPr>
        </p:nvSpPr>
        <p:spPr>
          <a:xfrm>
            <a:off x="1311591" y="0"/>
            <a:ext cx="7903529" cy="868680"/>
          </a:xfrm>
        </p:spPr>
        <p:txBody>
          <a:bodyPr/>
          <a:lstStyle/>
          <a:p>
            <a:r>
              <a:rPr lang="en-US" b="1" dirty="0">
                <a:latin typeface="Times New Roman" panose="02020603050405020304" pitchFamily="18" charset="0"/>
                <a:cs typeface="Times New Roman" panose="02020603050405020304" pitchFamily="18" charset="0"/>
              </a:rPr>
              <a:t>Specific Requirements (Software)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89083C-8266-A1C1-F472-1E3875D43ACE}"/>
              </a:ext>
            </a:extLst>
          </p:cNvPr>
          <p:cNvSpPr>
            <a:spLocks noGrp="1"/>
          </p:cNvSpPr>
          <p:nvPr>
            <p:ph idx="1"/>
          </p:nvPr>
        </p:nvSpPr>
        <p:spPr>
          <a:xfrm>
            <a:off x="1484310" y="868681"/>
            <a:ext cx="10018713" cy="5989320"/>
          </a:xfrm>
        </p:spPr>
        <p:txBody>
          <a:bodyPr>
            <a:normAutofit/>
          </a:bodyPr>
          <a:lstStyle/>
          <a:p>
            <a:r>
              <a:rPr lang="en-IN" sz="2000" b="1" dirty="0">
                <a:latin typeface="Times New Roman" panose="02020603050405020304" pitchFamily="18" charset="0"/>
                <a:cs typeface="Times New Roman" panose="02020603050405020304" pitchFamily="18" charset="0"/>
              </a:rPr>
              <a:t>Frontend Requirements</a:t>
            </a:r>
          </a:p>
          <a:p>
            <a:pPr marL="0" indent="0">
              <a:buNone/>
            </a:pPr>
            <a:r>
              <a:rPr lang="en-IN" sz="1900" dirty="0">
                <a:latin typeface="Times New Roman" panose="02020603050405020304" pitchFamily="18" charset="0"/>
                <a:cs typeface="Times New Roman" panose="02020603050405020304" pitchFamily="18" charset="0"/>
              </a:rPr>
              <a:t>	• </a:t>
            </a:r>
            <a:r>
              <a:rPr lang="en-IN" sz="1900" b="1" dirty="0">
                <a:latin typeface="Times New Roman" panose="02020603050405020304" pitchFamily="18" charset="0"/>
                <a:cs typeface="Times New Roman" panose="02020603050405020304" pitchFamily="18" charset="0"/>
              </a:rPr>
              <a:t>HTML5:</a:t>
            </a:r>
            <a:r>
              <a:rPr lang="en-IN" sz="1900" dirty="0">
                <a:latin typeface="Times New Roman" panose="02020603050405020304" pitchFamily="18" charset="0"/>
                <a:cs typeface="Times New Roman" panose="02020603050405020304" pitchFamily="18" charset="0"/>
              </a:rPr>
              <a:t> Structure of web pages.</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 </a:t>
            </a:r>
            <a:r>
              <a:rPr lang="en-IN" sz="1900" b="1" dirty="0">
                <a:latin typeface="Times New Roman" panose="02020603050405020304" pitchFamily="18" charset="0"/>
                <a:cs typeface="Times New Roman" panose="02020603050405020304" pitchFamily="18" charset="0"/>
              </a:rPr>
              <a:t>CSS3:</a:t>
            </a:r>
            <a:r>
              <a:rPr lang="en-IN" sz="1900" dirty="0">
                <a:latin typeface="Times New Roman" panose="02020603050405020304" pitchFamily="18" charset="0"/>
                <a:cs typeface="Times New Roman" panose="02020603050405020304" pitchFamily="18" charset="0"/>
              </a:rPr>
              <a:t> Page styling and responsive layout.</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 </a:t>
            </a:r>
            <a:r>
              <a:rPr lang="en-IN" sz="1900" b="1" dirty="0">
                <a:latin typeface="Times New Roman" panose="02020603050405020304" pitchFamily="18" charset="0"/>
                <a:cs typeface="Times New Roman" panose="02020603050405020304" pitchFamily="18" charset="0"/>
              </a:rPr>
              <a:t>JavaScript:</a:t>
            </a:r>
            <a:r>
              <a:rPr lang="en-IN" sz="1900" dirty="0">
                <a:latin typeface="Times New Roman" panose="02020603050405020304" pitchFamily="18" charset="0"/>
                <a:cs typeface="Times New Roman" panose="02020603050405020304" pitchFamily="18" charset="0"/>
              </a:rPr>
              <a:t> Interactivity and dynamic UI.</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 </a:t>
            </a:r>
            <a:r>
              <a:rPr lang="en-IN" sz="1900" b="1" dirty="0">
                <a:latin typeface="Times New Roman" panose="02020603050405020304" pitchFamily="18" charset="0"/>
                <a:cs typeface="Times New Roman" panose="02020603050405020304" pitchFamily="18" charset="0"/>
              </a:rPr>
              <a:t>J Query:</a:t>
            </a:r>
            <a:r>
              <a:rPr lang="en-IN" sz="1900" dirty="0">
                <a:latin typeface="Times New Roman" panose="02020603050405020304" pitchFamily="18" charset="0"/>
                <a:cs typeface="Times New Roman" panose="02020603050405020304" pitchFamily="18" charset="0"/>
              </a:rPr>
              <a:t> AJAX calls, real-time updates, simplified scripting.</a:t>
            </a:r>
          </a:p>
          <a:p>
            <a:r>
              <a:rPr lang="en-IN" sz="1900" b="1" dirty="0">
                <a:latin typeface="Times New Roman" panose="02020603050405020304" pitchFamily="18" charset="0"/>
                <a:cs typeface="Times New Roman" panose="02020603050405020304" pitchFamily="18" charset="0"/>
              </a:rPr>
              <a:t>Backend Requirements</a:t>
            </a:r>
          </a:p>
          <a:p>
            <a:pPr marL="0" indent="0">
              <a:buNone/>
            </a:pPr>
            <a:r>
              <a:rPr lang="en-IN" sz="1900" dirty="0">
                <a:latin typeface="Times New Roman" panose="02020603050405020304" pitchFamily="18" charset="0"/>
                <a:cs typeface="Times New Roman" panose="02020603050405020304" pitchFamily="18" charset="0"/>
              </a:rPr>
              <a:t>	• </a:t>
            </a:r>
            <a:r>
              <a:rPr lang="en-IN" sz="1900" b="1" dirty="0">
                <a:latin typeface="Times New Roman" panose="02020603050405020304" pitchFamily="18" charset="0"/>
                <a:cs typeface="Times New Roman" panose="02020603050405020304" pitchFamily="18" charset="0"/>
              </a:rPr>
              <a:t>PHP 7.4+:</a:t>
            </a:r>
            <a:r>
              <a:rPr lang="en-IN" sz="1900" dirty="0">
                <a:latin typeface="Times New Roman" panose="02020603050405020304" pitchFamily="18" charset="0"/>
                <a:cs typeface="Times New Roman" panose="02020603050405020304" pitchFamily="18" charset="0"/>
              </a:rPr>
              <a:t> Server-side logic, API integration, sessions.</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 </a:t>
            </a:r>
            <a:r>
              <a:rPr lang="en-IN" sz="1900" b="1" dirty="0">
                <a:latin typeface="Times New Roman" panose="02020603050405020304" pitchFamily="18" charset="0"/>
                <a:cs typeface="Times New Roman" panose="02020603050405020304" pitchFamily="18" charset="0"/>
              </a:rPr>
              <a:t>MySQL 5.7+:</a:t>
            </a:r>
            <a:r>
              <a:rPr lang="en-IN" sz="1900" dirty="0">
                <a:latin typeface="Times New Roman" panose="02020603050405020304" pitchFamily="18" charset="0"/>
                <a:cs typeface="Times New Roman" panose="02020603050405020304" pitchFamily="18" charset="0"/>
              </a:rPr>
              <a:t> Secure data storage (users, products, bids, orders)</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 </a:t>
            </a:r>
            <a:r>
              <a:rPr lang="en-IN" sz="1900" b="1" dirty="0">
                <a:latin typeface="Times New Roman" panose="02020603050405020304" pitchFamily="18" charset="0"/>
                <a:cs typeface="Times New Roman" panose="02020603050405020304" pitchFamily="18" charset="0"/>
              </a:rPr>
              <a:t>phpMyAdmin:</a:t>
            </a:r>
            <a:r>
              <a:rPr lang="en-IN" sz="1900" dirty="0">
                <a:latin typeface="Times New Roman" panose="02020603050405020304" pitchFamily="18" charset="0"/>
                <a:cs typeface="Times New Roman" panose="02020603050405020304" pitchFamily="18" charset="0"/>
              </a:rPr>
              <a:t> Database management, table creation, and SQL 	monitoring.</a:t>
            </a:r>
          </a:p>
          <a:p>
            <a:r>
              <a:rPr lang="en-IN" sz="1900" b="1" dirty="0">
                <a:latin typeface="Times New Roman" panose="02020603050405020304" pitchFamily="18" charset="0"/>
                <a:cs typeface="Times New Roman" panose="02020603050405020304" pitchFamily="18" charset="0"/>
              </a:rPr>
              <a:t>APIs &amp; Libraries</a:t>
            </a:r>
          </a:p>
          <a:p>
            <a:pPr marL="0" indent="0">
              <a:buNone/>
            </a:pPr>
            <a:r>
              <a:rPr lang="en-IN" sz="1900" dirty="0">
                <a:latin typeface="Times New Roman" panose="02020603050405020304" pitchFamily="18" charset="0"/>
                <a:cs typeface="Times New Roman" panose="02020603050405020304" pitchFamily="18" charset="0"/>
              </a:rPr>
              <a:t> 	• </a:t>
            </a:r>
            <a:r>
              <a:rPr lang="en-IN" sz="1900" b="1" dirty="0">
                <a:latin typeface="Times New Roman" panose="02020603050405020304" pitchFamily="18" charset="0"/>
                <a:cs typeface="Times New Roman" panose="02020603050405020304" pitchFamily="18" charset="0"/>
              </a:rPr>
              <a:t>OpenWeatherMap API:</a:t>
            </a:r>
            <a:r>
              <a:rPr lang="en-IN" sz="1900" dirty="0">
                <a:latin typeface="Times New Roman" panose="02020603050405020304" pitchFamily="18" charset="0"/>
                <a:cs typeface="Times New Roman" panose="02020603050405020304" pitchFamily="18" charset="0"/>
              </a:rPr>
              <a:t> Real-time weather data.</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 </a:t>
            </a:r>
            <a:r>
              <a:rPr lang="en-IN" sz="1900" b="1" dirty="0">
                <a:latin typeface="Times New Roman" panose="02020603050405020304" pitchFamily="18" charset="0"/>
                <a:cs typeface="Times New Roman" panose="02020603050405020304" pitchFamily="18" charset="0"/>
              </a:rPr>
              <a:t>Future</a:t>
            </a:r>
            <a:r>
              <a:rPr lang="en-IN" sz="1900" dirty="0">
                <a:latin typeface="Times New Roman" panose="02020603050405020304" pitchFamily="18" charset="0"/>
                <a:cs typeface="Times New Roman" panose="02020603050405020304" pitchFamily="18" charset="0"/>
              </a:rPr>
              <a:t>: Payment gateway API (</a:t>
            </a:r>
            <a:r>
              <a:rPr lang="en-IN" sz="1900" dirty="0" err="1">
                <a:latin typeface="Times New Roman" panose="02020603050405020304" pitchFamily="18" charset="0"/>
                <a:cs typeface="Times New Roman" panose="02020603050405020304" pitchFamily="18" charset="0"/>
              </a:rPr>
              <a:t>Razorpay</a:t>
            </a:r>
            <a:r>
              <a:rPr lang="en-IN" sz="1900" dirty="0">
                <a:latin typeface="Times New Roman" panose="02020603050405020304" pitchFamily="18" charset="0"/>
                <a:cs typeface="Times New Roman" panose="02020603050405020304" pitchFamily="18" charset="0"/>
              </a:rPr>
              <a:t>/PayPal).</a:t>
            </a:r>
          </a:p>
          <a:p>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9074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707DED-85B6-614A-36AE-977758642071}"/>
              </a:ext>
            </a:extLst>
          </p:cNvPr>
          <p:cNvSpPr>
            <a:spLocks noGrp="1"/>
          </p:cNvSpPr>
          <p:nvPr>
            <p:ph idx="1"/>
          </p:nvPr>
        </p:nvSpPr>
        <p:spPr>
          <a:xfrm>
            <a:off x="1433511" y="1950720"/>
            <a:ext cx="9021130" cy="2733040"/>
          </a:xfrm>
        </p:spPr>
        <p:txBody>
          <a:bodyPr>
            <a:normAutofit/>
          </a:bodyPr>
          <a:lstStyle/>
          <a:p>
            <a:pPr marL="0" indent="0">
              <a:buNone/>
            </a:pPr>
            <a:endParaRPr lang="en-US" dirty="0"/>
          </a:p>
          <a:p>
            <a:r>
              <a:rPr lang="en-US" sz="1900" dirty="0">
                <a:latin typeface="Times New Roman" panose="02020603050405020304" pitchFamily="18" charset="0"/>
                <a:cs typeface="Times New Roman" panose="02020603050405020304" pitchFamily="18" charset="0"/>
              </a:rPr>
              <a:t> Smartphones/PCs/Tablets</a:t>
            </a:r>
          </a:p>
          <a:p>
            <a:r>
              <a:rPr lang="en-US" sz="1900" dirty="0">
                <a:latin typeface="Times New Roman" panose="02020603050405020304" pitchFamily="18" charset="0"/>
                <a:cs typeface="Times New Roman" panose="02020603050405020304" pitchFamily="18" charset="0"/>
              </a:rPr>
              <a:t> Stable internet connection (supports low bandwidth)</a:t>
            </a:r>
          </a:p>
          <a:p>
            <a:r>
              <a:rPr lang="en-US" sz="1900" dirty="0">
                <a:latin typeface="Times New Roman" panose="02020603050405020304" pitchFamily="18" charset="0"/>
                <a:cs typeface="Times New Roman" panose="02020603050405020304" pitchFamily="18" charset="0"/>
              </a:rPr>
              <a:t> Browser support: Chrome, Firefox, Edge, Safari</a:t>
            </a:r>
          </a:p>
          <a:p>
            <a:pPr marL="0" indent="0">
              <a:buNone/>
            </a:pPr>
            <a:endParaRPr lang="en-IN" dirty="0"/>
          </a:p>
        </p:txBody>
      </p:sp>
      <p:sp>
        <p:nvSpPr>
          <p:cNvPr id="4" name="Title 1">
            <a:extLst>
              <a:ext uri="{FF2B5EF4-FFF2-40B4-BE49-F238E27FC236}">
                <a16:creationId xmlns:a16="http://schemas.microsoft.com/office/drawing/2014/main" id="{2B7A13AC-ED7F-5A20-D42E-994896E1D2AD}"/>
              </a:ext>
            </a:extLst>
          </p:cNvPr>
          <p:cNvSpPr>
            <a:spLocks noGrp="1"/>
          </p:cNvSpPr>
          <p:nvPr>
            <p:ph type="title"/>
          </p:nvPr>
        </p:nvSpPr>
        <p:spPr>
          <a:xfrm>
            <a:off x="1311591" y="0"/>
            <a:ext cx="7903529" cy="868680"/>
          </a:xfrm>
        </p:spPr>
        <p:txBody>
          <a:bodyPr/>
          <a:lstStyle/>
          <a:p>
            <a:r>
              <a:rPr lang="en-US" b="1" dirty="0">
                <a:latin typeface="Times New Roman" panose="02020603050405020304" pitchFamily="18" charset="0"/>
                <a:cs typeface="Times New Roman" panose="02020603050405020304" pitchFamily="18" charset="0"/>
              </a:rPr>
              <a:t>Specific Requirements (Hardware)</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4496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14BD8F1-3B1E-CE06-C1F0-228DCFEBAF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42287" y="764641"/>
            <a:ext cx="6308029" cy="6036604"/>
          </a:xfrm>
        </p:spPr>
      </p:pic>
      <p:sp>
        <p:nvSpPr>
          <p:cNvPr id="4" name="Title 3">
            <a:extLst>
              <a:ext uri="{FF2B5EF4-FFF2-40B4-BE49-F238E27FC236}">
                <a16:creationId xmlns:a16="http://schemas.microsoft.com/office/drawing/2014/main" id="{C6644108-CD1B-5B80-2463-05FF90E28CBC}"/>
              </a:ext>
            </a:extLst>
          </p:cNvPr>
          <p:cNvSpPr txBox="1">
            <a:spLocks noGrp="1"/>
          </p:cNvSpPr>
          <p:nvPr>
            <p:ph type="title"/>
          </p:nvPr>
        </p:nvSpPr>
        <p:spPr>
          <a:xfrm>
            <a:off x="0" y="56755"/>
            <a:ext cx="10018712"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System Design(Diagrams</a:t>
            </a:r>
            <a:r>
              <a:rPr lang="en-US" b="1" dirty="0">
                <a:latin typeface="Times New Roman" panose="02020603050405020304" pitchFamily="18" charset="0"/>
                <a:cs typeface="Times New Roman" panose="02020603050405020304" pitchFamily="18" charset="0"/>
              </a:rPr>
              <a:t>)</a:t>
            </a:r>
            <a:endParaRPr lang="en-US" sz="40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4BB98BB-E69F-E417-481E-FD115F8D5997}"/>
              </a:ext>
            </a:extLst>
          </p:cNvPr>
          <p:cNvSpPr txBox="1"/>
          <p:nvPr/>
        </p:nvSpPr>
        <p:spPr>
          <a:xfrm>
            <a:off x="1499937" y="954107"/>
            <a:ext cx="3320716" cy="646331"/>
          </a:xfrm>
          <a:prstGeom prst="rect">
            <a:avLst/>
          </a:prstGeom>
          <a:noFill/>
        </p:spPr>
        <p:txBody>
          <a:bodyPr wrap="square">
            <a:spAutoFit/>
          </a:bodyPr>
          <a:lstStyle/>
          <a:p>
            <a:pPr marL="342900" indent="-342900">
              <a:buAutoNum type="arabicPeriod"/>
            </a:pPr>
            <a:r>
              <a:rPr lang="en-US" b="1" dirty="0">
                <a:latin typeface="Times New Roman" panose="02020603050405020304" pitchFamily="18" charset="0"/>
                <a:cs typeface="Times New Roman" panose="02020603050405020304" pitchFamily="18" charset="0"/>
              </a:rPr>
              <a:t>Use case Diagram</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2927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hlinkClick r:id="rId2"/>
            <a:extLst>
              <a:ext uri="{FF2B5EF4-FFF2-40B4-BE49-F238E27FC236}">
                <a16:creationId xmlns:a16="http://schemas.microsoft.com/office/drawing/2014/main" id="{F56521E8-EE6D-2616-7247-7D482005A5AD}"/>
              </a:ext>
            </a:extLst>
          </p:cNvPr>
          <p:cNvSpPr txBox="1"/>
          <p:nvPr/>
        </p:nvSpPr>
        <p:spPr>
          <a:xfrm>
            <a:off x="1499937" y="954107"/>
            <a:ext cx="3320716"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2. ER  Diagram</a:t>
            </a:r>
          </a:p>
          <a:p>
            <a:br>
              <a:rPr lang="en-US" dirty="0">
                <a:latin typeface="Times New Roman" panose="02020603050405020304" pitchFamily="18" charset="0"/>
                <a:cs typeface="Times New Roman" panose="02020603050405020304" pitchFamily="18" charset="0"/>
              </a:rPr>
            </a:br>
            <a:endParaRPr lang="en-IN" dirty="0">
              <a:solidFill>
                <a:srgbClr val="0070C0"/>
              </a:solidFill>
              <a:latin typeface="Times New Roman" panose="02020603050405020304" pitchFamily="18" charset="0"/>
              <a:cs typeface="Times New Roman" panose="02020603050405020304" pitchFamily="18" charset="0"/>
            </a:endParaRPr>
          </a:p>
        </p:txBody>
      </p:sp>
      <p:pic>
        <p:nvPicPr>
          <p:cNvPr id="4" name="Picture 3" descr="A diagram of a diagram&#10;&#10;AI-generated content may be incorrect.">
            <a:extLst>
              <a:ext uri="{FF2B5EF4-FFF2-40B4-BE49-F238E27FC236}">
                <a16:creationId xmlns:a16="http://schemas.microsoft.com/office/drawing/2014/main" id="{04DFECF7-60D8-C6BB-BCEF-041EFE8425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7351" y="842211"/>
            <a:ext cx="7700482" cy="6023810"/>
          </a:xfrm>
          <a:prstGeom prst="rect">
            <a:avLst/>
          </a:prstGeom>
        </p:spPr>
      </p:pic>
      <p:sp>
        <p:nvSpPr>
          <p:cNvPr id="8" name="Title 3">
            <a:extLst>
              <a:ext uri="{FF2B5EF4-FFF2-40B4-BE49-F238E27FC236}">
                <a16:creationId xmlns:a16="http://schemas.microsoft.com/office/drawing/2014/main" id="{52EBC42B-2E35-6B23-1813-7E137BE51CE4}"/>
              </a:ext>
            </a:extLst>
          </p:cNvPr>
          <p:cNvSpPr txBox="1">
            <a:spLocks/>
          </p:cNvSpPr>
          <p:nvPr/>
        </p:nvSpPr>
        <p:spPr>
          <a:xfrm>
            <a:off x="854034" y="0"/>
            <a:ext cx="7311398" cy="707886"/>
          </a:xfrm>
          <a:prstGeom prst="rect">
            <a:avLst/>
          </a:prstGeom>
          <a:noFill/>
          <a:effectLst/>
        </p:spPr>
        <p:txBody>
          <a:bodyPr vert="horz" wrap="square" lIns="91440" tIns="45720" rIns="91440" bIns="4572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latin typeface="Times New Roman" panose="02020603050405020304" pitchFamily="18" charset="0"/>
                <a:cs typeface="Times New Roman" panose="02020603050405020304" pitchFamily="18" charset="0"/>
              </a:rPr>
              <a:t>System Design(Diagrams)</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2083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338FC-E77C-A95F-1DBC-8F886F15B8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B493B5-7AD0-E266-C815-607C48438426}"/>
              </a:ext>
            </a:extLst>
          </p:cNvPr>
          <p:cNvSpPr txBox="1"/>
          <p:nvPr/>
        </p:nvSpPr>
        <p:spPr>
          <a:xfrm>
            <a:off x="1499937" y="954107"/>
            <a:ext cx="3320716"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3. Activity  Diagram</a:t>
            </a:r>
          </a:p>
          <a:p>
            <a:br>
              <a:rPr lang="en-US" dirty="0">
                <a:latin typeface="Times New Roman" panose="02020603050405020304" pitchFamily="18" charset="0"/>
                <a:cs typeface="Times New Roman" panose="02020603050405020304" pitchFamily="18" charset="0"/>
              </a:rPr>
            </a:br>
            <a:endParaRPr lang="en-IN" dirty="0">
              <a:solidFill>
                <a:srgbClr val="0070C0"/>
              </a:solidFill>
              <a:latin typeface="Times New Roman" panose="02020603050405020304" pitchFamily="18" charset="0"/>
              <a:cs typeface="Times New Roman" panose="02020603050405020304" pitchFamily="18" charset="0"/>
            </a:endParaRPr>
          </a:p>
        </p:txBody>
      </p:sp>
      <p:pic>
        <p:nvPicPr>
          <p:cNvPr id="5" name="Picture 4" descr="A group of rectangular objects&#10;&#10;AI-generated content may be incorrect.">
            <a:extLst>
              <a:ext uri="{FF2B5EF4-FFF2-40B4-BE49-F238E27FC236}">
                <a16:creationId xmlns:a16="http://schemas.microsoft.com/office/drawing/2014/main" id="{41244A9A-4370-5E6B-47EC-FEBC471B90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8980" y="0"/>
            <a:ext cx="2804346" cy="6858000"/>
          </a:xfrm>
          <a:prstGeom prst="rect">
            <a:avLst/>
          </a:prstGeom>
        </p:spPr>
      </p:pic>
      <p:sp>
        <p:nvSpPr>
          <p:cNvPr id="8" name="Title 3">
            <a:extLst>
              <a:ext uri="{FF2B5EF4-FFF2-40B4-BE49-F238E27FC236}">
                <a16:creationId xmlns:a16="http://schemas.microsoft.com/office/drawing/2014/main" id="{F5D97F1D-F5DA-DD31-BB60-7F816BD6B736}"/>
              </a:ext>
            </a:extLst>
          </p:cNvPr>
          <p:cNvSpPr txBox="1">
            <a:spLocks/>
          </p:cNvSpPr>
          <p:nvPr/>
        </p:nvSpPr>
        <p:spPr>
          <a:xfrm>
            <a:off x="854034" y="0"/>
            <a:ext cx="7311398" cy="707886"/>
          </a:xfrm>
          <a:prstGeom prst="rect">
            <a:avLst/>
          </a:prstGeom>
          <a:noFill/>
          <a:effectLst/>
        </p:spPr>
        <p:txBody>
          <a:bodyPr vert="horz" wrap="square" lIns="91440" tIns="45720" rIns="91440" bIns="4572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latin typeface="Times New Roman" panose="02020603050405020304" pitchFamily="18" charset="0"/>
                <a:cs typeface="Times New Roman" panose="02020603050405020304" pitchFamily="18" charset="0"/>
              </a:rPr>
              <a:t>System Design(Diagrams)</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4072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84885-4622-9117-B1E7-7B9B45564CDA}"/>
              </a:ext>
            </a:extLst>
          </p:cNvPr>
          <p:cNvSpPr txBox="1">
            <a:spLocks/>
          </p:cNvSpPr>
          <p:nvPr/>
        </p:nvSpPr>
        <p:spPr>
          <a:xfrm>
            <a:off x="1499937" y="954107"/>
            <a:ext cx="3320716"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4. Sequence Diagram</a:t>
            </a:r>
          </a:p>
          <a:p>
            <a:br>
              <a:rPr lang="en-US" dirty="0">
                <a:latin typeface="Times New Roman" panose="02020603050405020304" pitchFamily="18" charset="0"/>
                <a:cs typeface="Times New Roman" panose="02020603050405020304" pitchFamily="18" charset="0"/>
              </a:rPr>
            </a:br>
            <a:endParaRPr lang="en-IN" dirty="0">
              <a:solidFill>
                <a:srgbClr val="0070C0"/>
              </a:solidFill>
              <a:latin typeface="Times New Roman" panose="02020603050405020304" pitchFamily="18" charset="0"/>
              <a:cs typeface="Times New Roman" panose="02020603050405020304" pitchFamily="18" charset="0"/>
            </a:endParaRPr>
          </a:p>
        </p:txBody>
      </p:sp>
      <p:pic>
        <p:nvPicPr>
          <p:cNvPr id="11" name="Picture 10" descr="A white paper with black text&#10;&#10;AI-generated content may be incorrect.">
            <a:extLst>
              <a:ext uri="{FF2B5EF4-FFF2-40B4-BE49-F238E27FC236}">
                <a16:creationId xmlns:a16="http://schemas.microsoft.com/office/drawing/2014/main" id="{9DB5F0B4-FE0E-CA60-C68D-8D4D1E7A6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0299" y="0"/>
            <a:ext cx="3038685" cy="6858000"/>
          </a:xfrm>
          <a:prstGeom prst="rect">
            <a:avLst/>
          </a:prstGeom>
        </p:spPr>
      </p:pic>
      <p:sp>
        <p:nvSpPr>
          <p:cNvPr id="14" name="Title 3">
            <a:extLst>
              <a:ext uri="{FF2B5EF4-FFF2-40B4-BE49-F238E27FC236}">
                <a16:creationId xmlns:a16="http://schemas.microsoft.com/office/drawing/2014/main" id="{AE161124-B290-E6D3-7625-C6FDF527C9B5}"/>
              </a:ext>
            </a:extLst>
          </p:cNvPr>
          <p:cNvSpPr txBox="1">
            <a:spLocks/>
          </p:cNvSpPr>
          <p:nvPr/>
        </p:nvSpPr>
        <p:spPr>
          <a:xfrm>
            <a:off x="854034" y="0"/>
            <a:ext cx="7311398" cy="707886"/>
          </a:xfrm>
          <a:prstGeom prst="rect">
            <a:avLst/>
          </a:prstGeom>
          <a:noFill/>
          <a:effectLst/>
        </p:spPr>
        <p:txBody>
          <a:bodyPr vert="horz" wrap="square" lIns="91440" tIns="45720" rIns="91440" bIns="4572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latin typeface="Times New Roman" panose="02020603050405020304" pitchFamily="18" charset="0"/>
                <a:cs typeface="Times New Roman" panose="02020603050405020304" pitchFamily="18" charset="0"/>
              </a:rPr>
              <a:t>System Design(Diagrams)</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5386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C0ACAD-55A0-E7E2-75B8-72EFCFD81368}"/>
              </a:ext>
            </a:extLst>
          </p:cNvPr>
          <p:cNvSpPr txBox="1"/>
          <p:nvPr/>
        </p:nvSpPr>
        <p:spPr>
          <a:xfrm>
            <a:off x="1499937" y="954107"/>
            <a:ext cx="3320716"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5. DFD Level 0</a:t>
            </a:r>
          </a:p>
          <a:p>
            <a:br>
              <a:rPr lang="en-US" dirty="0">
                <a:latin typeface="Times New Roman" panose="02020603050405020304" pitchFamily="18" charset="0"/>
                <a:cs typeface="Times New Roman" panose="02020603050405020304" pitchFamily="18" charset="0"/>
              </a:rPr>
            </a:br>
            <a:endParaRPr lang="en-IN" dirty="0">
              <a:solidFill>
                <a:srgbClr val="0070C0"/>
              </a:solidFill>
              <a:latin typeface="Times New Roman" panose="02020603050405020304" pitchFamily="18" charset="0"/>
              <a:cs typeface="Times New Roman" panose="02020603050405020304" pitchFamily="18" charset="0"/>
            </a:endParaRPr>
          </a:p>
        </p:txBody>
      </p:sp>
      <p:pic>
        <p:nvPicPr>
          <p:cNvPr id="7" name="Picture 6" descr="A diagram of a farm&#10;&#10;AI-generated content may be incorrect.">
            <a:extLst>
              <a:ext uri="{FF2B5EF4-FFF2-40B4-BE49-F238E27FC236}">
                <a16:creationId xmlns:a16="http://schemas.microsoft.com/office/drawing/2014/main" id="{E9C85150-FFE7-00DB-8BE4-9C49FB3B53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8316" y="2499341"/>
            <a:ext cx="8078925" cy="3154029"/>
          </a:xfrm>
          <a:prstGeom prst="rect">
            <a:avLst/>
          </a:prstGeom>
        </p:spPr>
      </p:pic>
      <p:sp>
        <p:nvSpPr>
          <p:cNvPr id="10" name="Title 3">
            <a:extLst>
              <a:ext uri="{FF2B5EF4-FFF2-40B4-BE49-F238E27FC236}">
                <a16:creationId xmlns:a16="http://schemas.microsoft.com/office/drawing/2014/main" id="{9E86D735-B628-E717-3712-05DBF2C343F7}"/>
              </a:ext>
            </a:extLst>
          </p:cNvPr>
          <p:cNvSpPr txBox="1">
            <a:spLocks noGrp="1"/>
          </p:cNvSpPr>
          <p:nvPr>
            <p:ph type="title"/>
          </p:nvPr>
        </p:nvSpPr>
        <p:spPr>
          <a:xfrm>
            <a:off x="854034" y="0"/>
            <a:ext cx="7311398"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System Design(Diagrams</a:t>
            </a:r>
            <a:r>
              <a:rPr lang="en-US" b="1" dirty="0">
                <a:latin typeface="Times New Roman" panose="02020603050405020304" pitchFamily="18" charset="0"/>
                <a:cs typeface="Times New Roman" panose="02020603050405020304" pitchFamily="18" charset="0"/>
              </a:rPr>
              <a:t>)</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498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B883DB-CD09-C613-7183-19BD1F6F01B1}"/>
              </a:ext>
            </a:extLst>
          </p:cNvPr>
          <p:cNvSpPr txBox="1"/>
          <p:nvPr/>
        </p:nvSpPr>
        <p:spPr>
          <a:xfrm>
            <a:off x="1499937" y="954107"/>
            <a:ext cx="3320716"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6. DFD Level 1</a:t>
            </a:r>
          </a:p>
          <a:p>
            <a:br>
              <a:rPr lang="en-US" dirty="0">
                <a:latin typeface="Times New Roman" panose="02020603050405020304" pitchFamily="18" charset="0"/>
                <a:cs typeface="Times New Roman" panose="02020603050405020304" pitchFamily="18" charset="0"/>
              </a:rPr>
            </a:br>
            <a:endParaRPr lang="en-IN" dirty="0">
              <a:solidFill>
                <a:srgbClr val="0070C0"/>
              </a:solidFill>
              <a:latin typeface="Times New Roman" panose="02020603050405020304" pitchFamily="18" charset="0"/>
              <a:cs typeface="Times New Roman" panose="02020603050405020304" pitchFamily="18" charset="0"/>
            </a:endParaRPr>
          </a:p>
        </p:txBody>
      </p:sp>
      <p:pic>
        <p:nvPicPr>
          <p:cNvPr id="7" name="Picture 6" descr="A diagram of a product&#10;&#10;AI-generated content may be incorrect.">
            <a:extLst>
              <a:ext uri="{FF2B5EF4-FFF2-40B4-BE49-F238E27FC236}">
                <a16:creationId xmlns:a16="http://schemas.microsoft.com/office/drawing/2014/main" id="{A561D1EA-9098-020C-074A-7EB847AE6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4452" y="1419475"/>
            <a:ext cx="6858000" cy="4676775"/>
          </a:xfrm>
          <a:prstGeom prst="rect">
            <a:avLst/>
          </a:prstGeom>
        </p:spPr>
      </p:pic>
      <p:sp>
        <p:nvSpPr>
          <p:cNvPr id="10" name="Title 3">
            <a:extLst>
              <a:ext uri="{FF2B5EF4-FFF2-40B4-BE49-F238E27FC236}">
                <a16:creationId xmlns:a16="http://schemas.microsoft.com/office/drawing/2014/main" id="{848D1DE3-A457-3DDF-888C-F45D06CD427B}"/>
              </a:ext>
            </a:extLst>
          </p:cNvPr>
          <p:cNvSpPr txBox="1">
            <a:spLocks/>
          </p:cNvSpPr>
          <p:nvPr/>
        </p:nvSpPr>
        <p:spPr>
          <a:xfrm>
            <a:off x="854034" y="0"/>
            <a:ext cx="7311398" cy="707886"/>
          </a:xfrm>
          <a:prstGeom prst="rect">
            <a:avLst/>
          </a:prstGeom>
          <a:noFill/>
          <a:effectLst/>
        </p:spPr>
        <p:txBody>
          <a:bodyPr vert="horz" wrap="square" lIns="91440" tIns="45720" rIns="91440" bIns="4572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latin typeface="Times New Roman" panose="02020603050405020304" pitchFamily="18" charset="0"/>
                <a:cs typeface="Times New Roman" panose="02020603050405020304" pitchFamily="18" charset="0"/>
              </a:rPr>
              <a:t>System Design(Diagrams)</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3644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79940C-BC45-E169-EDF7-07730544D15B}"/>
              </a:ext>
            </a:extLst>
          </p:cNvPr>
          <p:cNvSpPr txBox="1"/>
          <p:nvPr/>
        </p:nvSpPr>
        <p:spPr>
          <a:xfrm>
            <a:off x="1499937" y="954107"/>
            <a:ext cx="3320716"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7. DFD Level 2</a:t>
            </a:r>
          </a:p>
          <a:p>
            <a:br>
              <a:rPr lang="en-US" dirty="0">
                <a:latin typeface="Times New Roman" panose="02020603050405020304" pitchFamily="18" charset="0"/>
                <a:cs typeface="Times New Roman" panose="02020603050405020304" pitchFamily="18" charset="0"/>
              </a:rPr>
            </a:br>
            <a:endParaRPr lang="en-IN" dirty="0">
              <a:solidFill>
                <a:srgbClr val="0070C0"/>
              </a:solidFill>
              <a:latin typeface="Times New Roman" panose="02020603050405020304" pitchFamily="18" charset="0"/>
              <a:cs typeface="Times New Roman" panose="02020603050405020304" pitchFamily="18" charset="0"/>
            </a:endParaRPr>
          </a:p>
        </p:txBody>
      </p:sp>
      <p:pic>
        <p:nvPicPr>
          <p:cNvPr id="7" name="Picture 6" descr="A diagram of a flowchart&#10;&#10;AI-generated content may be incorrect.">
            <a:extLst>
              <a:ext uri="{FF2B5EF4-FFF2-40B4-BE49-F238E27FC236}">
                <a16:creationId xmlns:a16="http://schemas.microsoft.com/office/drawing/2014/main" id="{83B1E471-601F-3C34-5FB6-7D4A268817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5307" y="304800"/>
            <a:ext cx="4468595" cy="6553200"/>
          </a:xfrm>
          <a:prstGeom prst="rect">
            <a:avLst/>
          </a:prstGeom>
        </p:spPr>
      </p:pic>
      <p:sp>
        <p:nvSpPr>
          <p:cNvPr id="11" name="Title 3">
            <a:extLst>
              <a:ext uri="{FF2B5EF4-FFF2-40B4-BE49-F238E27FC236}">
                <a16:creationId xmlns:a16="http://schemas.microsoft.com/office/drawing/2014/main" id="{61F0A6A9-50B8-3345-D8D7-91CC1F11A213}"/>
              </a:ext>
            </a:extLst>
          </p:cNvPr>
          <p:cNvSpPr txBox="1">
            <a:spLocks noGrp="1"/>
          </p:cNvSpPr>
          <p:nvPr>
            <p:ph type="title"/>
          </p:nvPr>
        </p:nvSpPr>
        <p:spPr>
          <a:xfrm>
            <a:off x="854034" y="0"/>
            <a:ext cx="7311398"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System Design(Diagrams</a:t>
            </a:r>
            <a:r>
              <a:rPr lang="en-US" b="1" dirty="0">
                <a:latin typeface="Times New Roman" panose="02020603050405020304" pitchFamily="18" charset="0"/>
                <a:cs typeface="Times New Roman" panose="02020603050405020304" pitchFamily="18" charset="0"/>
              </a:rPr>
              <a:t>)</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2410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FF090F-3466-6B94-26CC-FE60AEAF0C11}"/>
              </a:ext>
            </a:extLst>
          </p:cNvPr>
          <p:cNvSpPr txBox="1"/>
          <p:nvPr/>
        </p:nvSpPr>
        <p:spPr>
          <a:xfrm>
            <a:off x="1499937" y="954107"/>
            <a:ext cx="3320716"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8. Class Diagram</a:t>
            </a:r>
          </a:p>
          <a:p>
            <a:br>
              <a:rPr lang="en-US" dirty="0">
                <a:latin typeface="Times New Roman" panose="02020603050405020304" pitchFamily="18" charset="0"/>
                <a:cs typeface="Times New Roman" panose="02020603050405020304" pitchFamily="18" charset="0"/>
              </a:rPr>
            </a:br>
            <a:endParaRPr lang="en-US" u="sng" dirty="0">
              <a:solidFill>
                <a:srgbClr val="0070C0"/>
              </a:solidFill>
              <a:latin typeface="Times New Roman" panose="02020603050405020304" pitchFamily="18" charset="0"/>
              <a:cs typeface="Times New Roman" panose="02020603050405020304" pitchFamily="18" charset="0"/>
            </a:endParaRPr>
          </a:p>
        </p:txBody>
      </p:sp>
      <p:pic>
        <p:nvPicPr>
          <p:cNvPr id="7" name="Picture 6" descr="A diagram of a computer&#10;&#10;AI-generated content may be incorrect.">
            <a:extLst>
              <a:ext uri="{FF2B5EF4-FFF2-40B4-BE49-F238E27FC236}">
                <a16:creationId xmlns:a16="http://schemas.microsoft.com/office/drawing/2014/main" id="{75E4F549-50F3-1DA3-6B39-DAA9A0E2D7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0391" y="782320"/>
            <a:ext cx="5870646" cy="6004560"/>
          </a:xfrm>
          <a:prstGeom prst="rect">
            <a:avLst/>
          </a:prstGeom>
        </p:spPr>
      </p:pic>
      <p:sp>
        <p:nvSpPr>
          <p:cNvPr id="10" name="Title 3">
            <a:extLst>
              <a:ext uri="{FF2B5EF4-FFF2-40B4-BE49-F238E27FC236}">
                <a16:creationId xmlns:a16="http://schemas.microsoft.com/office/drawing/2014/main" id="{C0EDB9AA-8040-596C-F455-1439E1BA7B9B}"/>
              </a:ext>
            </a:extLst>
          </p:cNvPr>
          <p:cNvSpPr txBox="1">
            <a:spLocks/>
          </p:cNvSpPr>
          <p:nvPr/>
        </p:nvSpPr>
        <p:spPr>
          <a:xfrm>
            <a:off x="854034" y="0"/>
            <a:ext cx="7311398" cy="707886"/>
          </a:xfrm>
          <a:prstGeom prst="rect">
            <a:avLst/>
          </a:prstGeom>
          <a:noFill/>
          <a:effectLst/>
        </p:spPr>
        <p:txBody>
          <a:bodyPr vert="horz" wrap="square" lIns="91440" tIns="45720" rIns="91440" bIns="4572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latin typeface="Times New Roman" panose="02020603050405020304" pitchFamily="18" charset="0"/>
                <a:cs typeface="Times New Roman" panose="02020603050405020304" pitchFamily="18" charset="0"/>
              </a:rPr>
              <a:t>System Design(Diagrams)</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5138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8F0A29-558C-5D0C-55E2-F8FBE6AA99CB}"/>
              </a:ext>
            </a:extLst>
          </p:cNvPr>
          <p:cNvSpPr txBox="1">
            <a:spLocks noGrp="1"/>
          </p:cNvSpPr>
          <p:nvPr>
            <p:ph type="title"/>
          </p:nvPr>
        </p:nvSpPr>
        <p:spPr>
          <a:xfrm>
            <a:off x="854034" y="0"/>
            <a:ext cx="7311398"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System Design(Diagrams</a:t>
            </a:r>
            <a:r>
              <a:rPr lang="en-US" b="1" dirty="0">
                <a:latin typeface="Times New Roman" panose="02020603050405020304" pitchFamily="18" charset="0"/>
                <a:cs typeface="Times New Roman" panose="02020603050405020304" pitchFamily="18" charset="0"/>
              </a:rPr>
              <a:t>)</a:t>
            </a:r>
            <a:endParaRPr lang="en-US" sz="4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20F57FE-FCFD-7369-0C77-BA41DDC51336}"/>
              </a:ext>
            </a:extLst>
          </p:cNvPr>
          <p:cNvSpPr txBox="1"/>
          <p:nvPr/>
        </p:nvSpPr>
        <p:spPr>
          <a:xfrm>
            <a:off x="1499937" y="954107"/>
            <a:ext cx="3320716"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9. Flow Chart</a:t>
            </a:r>
          </a:p>
          <a:p>
            <a:br>
              <a:rPr lang="en-US" dirty="0">
                <a:latin typeface="Times New Roman" panose="02020603050405020304" pitchFamily="18" charset="0"/>
                <a:cs typeface="Times New Roman" panose="02020603050405020304" pitchFamily="18" charset="0"/>
              </a:rPr>
            </a:br>
            <a:endParaRPr lang="en-IN" dirty="0">
              <a:solidFill>
                <a:srgbClr val="0070C0"/>
              </a:solidFill>
              <a:latin typeface="Times New Roman" panose="02020603050405020304" pitchFamily="18" charset="0"/>
              <a:cs typeface="Times New Roman" panose="02020603050405020304" pitchFamily="18" charset="0"/>
            </a:endParaRPr>
          </a:p>
        </p:txBody>
      </p:sp>
      <p:pic>
        <p:nvPicPr>
          <p:cNvPr id="7" name="Picture 6" descr="A diagram of a diagram&#10;&#10;AI-generated content may be incorrect.">
            <a:extLst>
              <a:ext uri="{FF2B5EF4-FFF2-40B4-BE49-F238E27FC236}">
                <a16:creationId xmlns:a16="http://schemas.microsoft.com/office/drawing/2014/main" id="{3EE62472-7161-57B4-FCB7-E57552509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14160" y="0"/>
            <a:ext cx="2397600" cy="6858000"/>
          </a:xfrm>
          <a:prstGeom prst="rect">
            <a:avLst/>
          </a:prstGeom>
        </p:spPr>
      </p:pic>
    </p:spTree>
    <p:extLst>
      <p:ext uri="{BB962C8B-B14F-4D97-AF65-F5344CB8AC3E}">
        <p14:creationId xmlns:p14="http://schemas.microsoft.com/office/powerpoint/2010/main" val="4227072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535E7-1ABC-827B-2367-E6C0DE8ECD5E}"/>
              </a:ext>
            </a:extLst>
          </p:cNvPr>
          <p:cNvSpPr>
            <a:spLocks noGrp="1"/>
          </p:cNvSpPr>
          <p:nvPr>
            <p:ph type="title"/>
          </p:nvPr>
        </p:nvSpPr>
        <p:spPr>
          <a:xfrm>
            <a:off x="1484310" y="0"/>
            <a:ext cx="4957129" cy="889000"/>
          </a:xfrm>
        </p:spPr>
        <p:txBody>
          <a:bodyPr/>
          <a:lstStyle/>
          <a:p>
            <a:r>
              <a:rPr lang="en-IN" b="1" dirty="0">
                <a:latin typeface="Times New Roman" panose="02020603050405020304" pitchFamily="18" charset="0"/>
                <a:cs typeface="Times New Roman" panose="02020603050405020304" pitchFamily="18" charset="0"/>
              </a:rPr>
              <a:t>References &amp; Sources</a:t>
            </a:r>
          </a:p>
        </p:txBody>
      </p:sp>
      <p:sp>
        <p:nvSpPr>
          <p:cNvPr id="3" name="Content Placeholder 2">
            <a:extLst>
              <a:ext uri="{FF2B5EF4-FFF2-40B4-BE49-F238E27FC236}">
                <a16:creationId xmlns:a16="http://schemas.microsoft.com/office/drawing/2014/main" id="{7AC20245-8A04-3EA5-2718-52307337CFBC}"/>
              </a:ext>
            </a:extLst>
          </p:cNvPr>
          <p:cNvSpPr>
            <a:spLocks noGrp="1"/>
          </p:cNvSpPr>
          <p:nvPr>
            <p:ph idx="1"/>
          </p:nvPr>
        </p:nvSpPr>
        <p:spPr>
          <a:xfrm>
            <a:off x="1484310" y="889000"/>
            <a:ext cx="7608890" cy="3398520"/>
          </a:xfrm>
        </p:spPr>
        <p:txBody>
          <a:bodyPr>
            <a:normAutofit/>
          </a:bodyPr>
          <a:lstStyle/>
          <a:p>
            <a:pPr marL="0" indent="0">
              <a:buNone/>
            </a:pPr>
            <a:endParaRPr lang="en-IN" sz="1900" dirty="0">
              <a:latin typeface="Times New Roman" panose="02020603050405020304" pitchFamily="18" charset="0"/>
              <a:cs typeface="Times New Roman" panose="02020603050405020304" pitchFamily="18" charset="0"/>
            </a:endParaRPr>
          </a:p>
          <a:p>
            <a:r>
              <a:rPr lang="en-IN" sz="1900" dirty="0">
                <a:latin typeface="Times New Roman" panose="02020603050405020304" pitchFamily="18" charset="0"/>
                <a:cs typeface="Times New Roman" panose="02020603050405020304" pitchFamily="18" charset="0"/>
              </a:rPr>
              <a:t>ChatGPT – for research and technical explanation</a:t>
            </a:r>
          </a:p>
          <a:p>
            <a:r>
              <a:rPr lang="en-IN" sz="1900" dirty="0">
                <a:latin typeface="Times New Roman" panose="02020603050405020304" pitchFamily="18" charset="0"/>
                <a:cs typeface="Times New Roman" panose="02020603050405020304" pitchFamily="18" charset="0"/>
              </a:rPr>
              <a:t> DeepSeek – for guidance and structure</a:t>
            </a:r>
          </a:p>
          <a:p>
            <a:r>
              <a:rPr lang="en-IN" sz="1900" dirty="0">
                <a:latin typeface="Times New Roman" panose="02020603050405020304" pitchFamily="18" charset="0"/>
                <a:cs typeface="Times New Roman" panose="02020603050405020304" pitchFamily="18" charset="0"/>
              </a:rPr>
              <a:t> Google – general information &amp; research</a:t>
            </a:r>
          </a:p>
          <a:p>
            <a:r>
              <a:rPr lang="en-IN" sz="1900" dirty="0">
                <a:latin typeface="Times New Roman" panose="02020603050405020304" pitchFamily="18" charset="0"/>
                <a:cs typeface="Times New Roman" panose="02020603050405020304" pitchFamily="18" charset="0"/>
              </a:rPr>
              <a:t> W3Schools – HTML, CSS, JS, PHP documentation</a:t>
            </a:r>
          </a:p>
          <a:p>
            <a:r>
              <a:rPr lang="en-IN" sz="1900" dirty="0">
                <a:latin typeface="Times New Roman" panose="02020603050405020304" pitchFamily="18" charset="0"/>
                <a:cs typeface="Times New Roman" panose="02020603050405020304" pitchFamily="18" charset="0"/>
              </a:rPr>
              <a:t> OpenWeatherMap API documentation</a:t>
            </a:r>
          </a:p>
          <a:p>
            <a:r>
              <a:rPr lang="en-IN" sz="1900" dirty="0">
                <a:latin typeface="Times New Roman" panose="02020603050405020304" pitchFamily="18" charset="0"/>
                <a:cs typeface="Times New Roman" panose="02020603050405020304" pitchFamily="18" charset="0"/>
              </a:rPr>
              <a:t> MySQL &amp; PHP official documentation</a:t>
            </a:r>
          </a:p>
        </p:txBody>
      </p:sp>
    </p:spTree>
    <p:extLst>
      <p:ext uri="{BB962C8B-B14F-4D97-AF65-F5344CB8AC3E}">
        <p14:creationId xmlns:p14="http://schemas.microsoft.com/office/powerpoint/2010/main" val="4224935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40F06-8980-1EEE-57C4-23C24B6F554F}"/>
              </a:ext>
            </a:extLst>
          </p:cNvPr>
          <p:cNvSpPr>
            <a:spLocks noGrp="1"/>
          </p:cNvSpPr>
          <p:nvPr>
            <p:ph type="title"/>
          </p:nvPr>
        </p:nvSpPr>
        <p:spPr>
          <a:xfrm>
            <a:off x="1484310" y="0"/>
            <a:ext cx="3057209" cy="929640"/>
          </a:xfrm>
        </p:spPr>
        <p:txBody>
          <a:bodyPr/>
          <a:lstStyle/>
          <a:p>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3FDCB73-AD02-D1ED-ED57-28B6E74F8B9F}"/>
              </a:ext>
            </a:extLst>
          </p:cNvPr>
          <p:cNvSpPr>
            <a:spLocks noGrp="1"/>
          </p:cNvSpPr>
          <p:nvPr>
            <p:ph idx="1"/>
          </p:nvPr>
        </p:nvSpPr>
        <p:spPr>
          <a:xfrm>
            <a:off x="1484310" y="1026159"/>
            <a:ext cx="10596879" cy="3698241"/>
          </a:xfrm>
        </p:spPr>
        <p:txBody>
          <a:bodyPr>
            <a:normAutofit/>
          </a:bodyPr>
          <a:lstStyle/>
          <a:p>
            <a:pPr marL="0" indent="0" algn="just">
              <a:buNone/>
            </a:pPr>
            <a:r>
              <a:rPr lang="en-US" sz="1900" dirty="0" err="1">
                <a:latin typeface="Times New Roman" panose="02020603050405020304" pitchFamily="18" charset="0"/>
                <a:cs typeface="Times New Roman" panose="02020603050405020304" pitchFamily="18" charset="0"/>
              </a:rPr>
              <a:t>AgriFarm</a:t>
            </a:r>
            <a:r>
              <a:rPr lang="en-US" sz="1900" dirty="0">
                <a:latin typeface="Times New Roman" panose="02020603050405020304" pitchFamily="18" charset="0"/>
                <a:cs typeface="Times New Roman" panose="02020603050405020304" pitchFamily="18" charset="0"/>
              </a:rPr>
              <a:t> successfully addresses the limitations of traditional agricultural trading by providing a transparent, efficient, and technology-driven platform that directly connects farmers and buyers. Through features such as real-time bidding, product listing, live weather updates, and crop advisory services, the system empowers farmers with better market access and informed decision-making while offering buyers competitive pricing and reliable product information. The use of modern web technologies, secure authentication, and structured database design ensures reliability, scalability, and ease of use for all stakeholders. Overall, </a:t>
            </a:r>
            <a:r>
              <a:rPr lang="en-US" sz="1900" dirty="0" err="1">
                <a:latin typeface="Times New Roman" panose="02020603050405020304" pitchFamily="18" charset="0"/>
                <a:cs typeface="Times New Roman" panose="02020603050405020304" pitchFamily="18" charset="0"/>
              </a:rPr>
              <a:t>AgriFarm</a:t>
            </a:r>
            <a:r>
              <a:rPr lang="en-US" sz="1900" dirty="0">
                <a:latin typeface="Times New Roman" panose="02020603050405020304" pitchFamily="18" charset="0"/>
                <a:cs typeface="Times New Roman" panose="02020603050405020304" pitchFamily="18" charset="0"/>
              </a:rPr>
              <a:t> demonstrates how digital solutions can significantly improve agricultural practices, enhance transparency in the supply chain, and contribute positively to the modernization of rural markets.</a:t>
            </a:r>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0875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0C1CE-A024-61B4-8A7A-5BB158D2F9CB}"/>
              </a:ext>
            </a:extLst>
          </p:cNvPr>
          <p:cNvSpPr>
            <a:spLocks noGrp="1"/>
          </p:cNvSpPr>
          <p:nvPr>
            <p:ph type="title"/>
          </p:nvPr>
        </p:nvSpPr>
        <p:spPr>
          <a:xfrm>
            <a:off x="1514791" y="2552700"/>
            <a:ext cx="10018713" cy="1752599"/>
          </a:xfrm>
        </p:spPr>
        <p:txBody>
          <a:bodyPr>
            <a:normAutofit/>
          </a:bodyPr>
          <a:lstStyle/>
          <a:p>
            <a:r>
              <a:rPr lang="en-US" sz="8000" b="1" dirty="0">
                <a:latin typeface="Times New Roman" panose="02020603050405020304" pitchFamily="18" charset="0"/>
                <a:cs typeface="Times New Roman" panose="02020603050405020304" pitchFamily="18" charset="0"/>
              </a:rPr>
              <a:t>THANK  YOU</a:t>
            </a:r>
            <a:endParaRPr lang="en-IN" sz="8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271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TM03457496[[fn=Parallax]]</Template>
  <TotalTime>155</TotalTime>
  <Words>724</Words>
  <Application>Microsoft Office PowerPoint</Application>
  <PresentationFormat>Widescreen</PresentationFormat>
  <Paragraphs>82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Corbel</vt:lpstr>
      <vt:lpstr>Times New Roman</vt:lpstr>
      <vt:lpstr>Parallax</vt:lpstr>
      <vt:lpstr>AgriFarm</vt:lpstr>
      <vt:lpstr>PowerPoint Presentation</vt:lpstr>
      <vt:lpstr>PowerPoint Presentation</vt:lpstr>
      <vt:lpstr>Specific Requirements (Software)</vt:lpstr>
      <vt:lpstr>Specific Requirements (Hardware)</vt:lpstr>
      <vt:lpstr>System Design(Diagrams)</vt:lpstr>
      <vt:lpstr>PowerPoint Presentation</vt:lpstr>
      <vt:lpstr>PowerPoint Presentation</vt:lpstr>
      <vt:lpstr>PowerPoint Presentation</vt:lpstr>
      <vt:lpstr>System Design(Diagrams)</vt:lpstr>
      <vt:lpstr>PowerPoint Presentation</vt:lpstr>
      <vt:lpstr>System Design(Diagrams)</vt:lpstr>
      <vt:lpstr>PowerPoint Presentation</vt:lpstr>
      <vt:lpstr>System Design(Diagrams)</vt:lpstr>
      <vt:lpstr>References &amp; Sources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ZEEL MEHTA</dc:creator>
  <cp:lastModifiedBy>Harshil Ranpariya</cp:lastModifiedBy>
  <cp:revision>16</cp:revision>
  <dcterms:created xsi:type="dcterms:W3CDTF">2025-07-28T08:57:34Z</dcterms:created>
  <dcterms:modified xsi:type="dcterms:W3CDTF">2026-01-28T07:35:02Z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